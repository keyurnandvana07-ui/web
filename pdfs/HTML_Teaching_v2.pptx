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14B8A6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14B8A6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0" y="365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4B8A6">
                    <a:alpha val="4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0" y="868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4B8A6">
                    <a:alpha val="4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0" y="1371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4B8A6">
                    <a:alpha val="56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0" y="18745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4B8A6">
                    <a:alpha val="64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0" y="2377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4B8A6">
                    <a:alpha val="72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0" y="2880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4B8A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4572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600" dirty="0"/>
          </a:p>
        </p:txBody>
      </p:sp>
      <p:sp>
        <p:nvSpPr>
          <p:cNvPr id="13" name="Shape 11"/>
          <p:cNvSpPr/>
          <p:nvPr/>
        </p:nvSpPr>
        <p:spPr>
          <a:xfrm>
            <a:off x="411480" y="2084832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30552"/>
            <a:ext cx="201168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37744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the Web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" y="29443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  •  MERN Stack Series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7548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•  Prerequisites: Intro to MERN complete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B8A6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HTML?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813816"/>
            <a:ext cx="256032" cy="256032"/>
          </a:xfrm>
          <a:prstGeom prst="ellipse">
            <a:avLst/>
          </a:prstGeom>
          <a:solidFill>
            <a:srgbClr val="14B8A6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13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7498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HyperText Markup Language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11556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language for creating web pages — invented by Tim Berners-Lee in 1991.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1527048"/>
            <a:ext cx="256032" cy="256032"/>
          </a:xfrm>
          <a:prstGeom prst="ellipse">
            <a:avLst/>
          </a:prstGeom>
          <a:solidFill>
            <a:srgbClr val="14B8A6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527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1463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skeleton of every webpage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82880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structure and meaning of content — not how it looks.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2240280"/>
            <a:ext cx="256032" cy="256032"/>
          </a:xfrm>
          <a:prstGeom prst="ellipse">
            <a:avLst/>
          </a:prstGeom>
          <a:solidFill>
            <a:srgbClr val="14B8A6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21762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website you've visited is built on HTML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54203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any page → View Page Source → That's raw HTML.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" y="2953512"/>
            <a:ext cx="256032" cy="256032"/>
          </a:xfrm>
          <a:prstGeom prst="ellipse">
            <a:avLst/>
          </a:prstGeom>
          <a:solidFill>
            <a:srgbClr val="14B8A6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🔖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" y="28895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uses tags to mark up content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25526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&lt;h1&gt;This is a heading&lt;/h1&gt;  — browser reads tags and knows what to display.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256032" cy="256032"/>
          </a:xfrm>
          <a:prstGeom prst="ellipse">
            <a:avLst/>
          </a:prstGeom>
          <a:solidFill>
            <a:srgbClr val="14B8A6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" y="360273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alongside CSS and JavaScript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96849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structure. CSS = style. JS = behaviour. They work as a team.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7472" y="4379976"/>
            <a:ext cx="256032" cy="256032"/>
          </a:xfrm>
          <a:prstGeom prst="ellipse">
            <a:avLst/>
          </a:prstGeom>
          <a:solidFill>
            <a:srgbClr val="14B8A6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4379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" y="43159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HTML before React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68172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generates HTML. If you don't know HTML, you can't debug React output.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B8A6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&amp; JavaScript — The Web Trio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713232"/>
            <a:ext cx="2816352" cy="4224528"/>
          </a:xfrm>
          <a:prstGeom prst="rect">
            <a:avLst/>
          </a:prstGeom>
          <a:solidFill>
            <a:srgbClr val="18181B"/>
          </a:solidFill>
          <a:ln w="15240">
            <a:solidFill>
              <a:srgbClr val="F43F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713232"/>
            <a:ext cx="2816352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91440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92608" y="1664208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" y="21488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Content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2487168"/>
            <a:ext cx="1901952" cy="36576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2578608"/>
            <a:ext cx="2542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 the page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paragraphs, images, links, forms, tables — the raw content of the page.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" y="4251960"/>
            <a:ext cx="1901952" cy="502920"/>
          </a:xfrm>
          <a:prstGeom prst="rect">
            <a:avLst/>
          </a:prstGeom>
          <a:solidFill>
            <a:srgbClr val="F43F5E">
              <a:alpha val="18000"/>
            </a:srgbClr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25196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36976" y="713232"/>
            <a:ext cx="2816352" cy="4224528"/>
          </a:xfrm>
          <a:prstGeom prst="rect">
            <a:avLst/>
          </a:prstGeom>
          <a:solidFill>
            <a:srgbClr val="18181B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36976" y="713232"/>
            <a:ext cx="281635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3236976" y="91440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🎨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36976" y="1664208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74136" y="21488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&amp; Layout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94176" y="2487168"/>
            <a:ext cx="1901952" cy="36576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0" name="Text 18"/>
          <p:cNvSpPr/>
          <p:nvPr/>
        </p:nvSpPr>
        <p:spPr>
          <a:xfrm>
            <a:off x="3374136" y="2578608"/>
            <a:ext cx="2542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looks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Colors, fonts, spacing, flexbox layouts, animations, responsive design.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94176" y="4251960"/>
            <a:ext cx="1901952" cy="502920"/>
          </a:xfrm>
          <a:prstGeom prst="rect">
            <a:avLst/>
          </a:prstGeom>
          <a:solidFill>
            <a:srgbClr val="8B5CF6">
              <a:alpha val="18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94176" y="425196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.style {}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81344" y="713232"/>
            <a:ext cx="2816352" cy="4224528"/>
          </a:xfrm>
          <a:prstGeom prst="rect">
            <a:avLst/>
          </a:prstGeom>
          <a:solidFill>
            <a:srgbClr val="18181B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81344" y="713232"/>
            <a:ext cx="28163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181344" y="914400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181344" y="1664208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18504" y="21488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&amp; Logic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38544" y="2487168"/>
            <a:ext cx="1901952" cy="36576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29" name="Text 27"/>
          <p:cNvSpPr/>
          <p:nvPr/>
        </p:nvSpPr>
        <p:spPr>
          <a:xfrm>
            <a:off x="6318504" y="2578608"/>
            <a:ext cx="2542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events, form validation, fetch data from server, update the DOM.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38544" y="4251960"/>
            <a:ext cx="1901952" cy="502920"/>
          </a:xfrm>
          <a:prstGeom prst="rect">
            <a:avLst/>
          </a:prstGeom>
          <a:solidFill>
            <a:srgbClr val="F59E0B">
              <a:alpha val="18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425196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function()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5486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0"/>
            <a:ext cx="18288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 Boilerplate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template every HTML file needs.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B8A6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Boilerplate — Your Starting Template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5074920" cy="42519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507492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749808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749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74980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960120"/>
            <a:ext cx="489204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 /&gt;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name="viewport"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content="width=device-width,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initial-scale=1.0" /&gt;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&lt;title&gt;My First Page&lt;/title&gt;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&lt;link rel="stylesheet"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href="style.css" /&gt;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&lt;h1&gt;Hello, World!&lt;/h1&gt;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&lt;script src="app.js"&gt;&lt;/script&gt;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685800"/>
            <a:ext cx="3401568" cy="42519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14416" y="850392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8503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&lt;!DOCTYPE html&gt;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HTML5 mode in the browser.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1490472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4904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&lt;html lang="en"&gt;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element. lang= helps SEO &amp; screen readers.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2130552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130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&lt;head&gt;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page settings (not shown to user).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4416" y="2770632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706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charset="UTF-8"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Hindi, emoji, all world characters.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3410712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4107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meta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page mobile-friendly. Always include!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14416" y="4050792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40507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&lt;title&gt;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shown in browser tab + Google results.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14416" y="4690872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46908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&lt;body&gt;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0" y="4983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visible goes here.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14416" y="5330952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0" y="53309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VS Code tip: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0" y="5623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 !   and hit Tab → full boilerplate appears!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5486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0"/>
            <a:ext cx="182880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elements, attributes — the building blocks.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43F5E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HTML Element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713232"/>
            <a:ext cx="8595360" cy="9144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768096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</a:t>
            </a:r>
            <a:pPr algn="l" indent="0" marL="0">
              <a:buNone/>
            </a:pPr>
            <a:r>
              <a:rPr lang="en-US" sz="26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</a:t>
            </a:r>
            <a:pPr algn="l" indent="0" marL="0">
              <a:buNone/>
            </a:pPr>
            <a:r>
              <a:rPr lang="en-US" sz="26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26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"intro"</a:t>
            </a:r>
            <a:pPr algn="l" indent="0" marL="0">
              <a:buNone/>
            </a:pPr>
            <a:r>
              <a:rPr lang="en-US" sz="26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buNone/>
            </a:pPr>
            <a:r>
              <a:rPr lang="en-US" sz="26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World!</a:t>
            </a:r>
            <a:pPr algn="l" indent="0" marL="0">
              <a:buNone/>
            </a:pPr>
            <a:r>
              <a:rPr lang="en-US" sz="26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6928" y="1673352"/>
            <a:ext cx="27432" cy="20116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512064" y="1673352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" y="1883664"/>
            <a:ext cx="1005840" cy="502920"/>
          </a:xfrm>
          <a:prstGeom prst="rect">
            <a:avLst/>
          </a:prstGeom>
          <a:solidFill>
            <a:srgbClr val="F43F5E">
              <a:alpha val="25000"/>
            </a:srgbClr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8366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00200" y="1673352"/>
            <a:ext cx="27432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1545336" y="167335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1417320" y="1883664"/>
            <a:ext cx="1005840" cy="502920"/>
          </a:xfrm>
          <a:prstGeom prst="rect">
            <a:avLst/>
          </a:prstGeom>
          <a:solidFill>
            <a:srgbClr val="8B5CF6">
              <a:alpha val="25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188366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1673352"/>
            <a:ext cx="27432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551176" y="1673352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23160" y="1883664"/>
            <a:ext cx="1005840" cy="502920"/>
          </a:xfrm>
          <a:prstGeom prst="rect">
            <a:avLst/>
          </a:prstGeom>
          <a:solidFill>
            <a:srgbClr val="22C55E">
              <a:alpha val="25000"/>
            </a:srgbClr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188366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43400" y="1673352"/>
            <a:ext cx="27432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4288536" y="167335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4160520" y="1883664"/>
            <a:ext cx="1005840" cy="502920"/>
          </a:xfrm>
          <a:prstGeom prst="rect">
            <a:avLst/>
          </a:prstGeom>
          <a:solidFill>
            <a:srgbClr val="F59E0B">
              <a:alpha val="25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188366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46520" y="1673352"/>
            <a:ext cx="27432" cy="20116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4" name="Shape 22"/>
          <p:cNvSpPr/>
          <p:nvPr/>
        </p:nvSpPr>
        <p:spPr>
          <a:xfrm>
            <a:off x="6391656" y="1673352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1883664"/>
            <a:ext cx="1005840" cy="502920"/>
          </a:xfrm>
          <a:prstGeom prst="rect">
            <a:avLst/>
          </a:prstGeom>
          <a:solidFill>
            <a:srgbClr val="F43F5E">
              <a:alpha val="25000"/>
            </a:srgbClr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88366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2608" y="2578608"/>
            <a:ext cx="4206240" cy="10515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02336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9536" y="2670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Tag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9536" y="2980944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&lt;tagname&gt; — tells browser where element starts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578608"/>
            <a:ext cx="4206240" cy="10515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73168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30368" y="2670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Tag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30368" y="2980944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&lt;/tagname&gt; — the / means closing. Required for most tags.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92608" y="3767328"/>
            <a:ext cx="4206240" cy="10515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02336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59536" y="3858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Self-Closing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59536" y="4169664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&lt;br /&gt; &lt;img /&gt; &lt;input /&gt; &lt;meta /&gt; — no content, no closing tag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767328"/>
            <a:ext cx="4206240" cy="10515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73168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230368" y="3858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230368" y="4169664"/>
            <a:ext cx="3493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key="value" pairs inside the opening tag. Add extra info.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43F5E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Most-Used HTML Attributes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420624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" y="886968"/>
            <a:ext cx="347472" cy="347472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3F5E"/>
                </a:solidFill>
              </a:rPr>
              <a:t>#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868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id="name"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1216152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on page. Used in CSS as #name and JS as getElementById()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36008" y="685800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685800"/>
            <a:ext cx="420624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4773168" y="886968"/>
            <a:ext cx="347472" cy="347472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3F5E"/>
                </a:solidFill>
              </a:rPr>
              <a:t>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02936" y="868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class="name"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73168" y="1216152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label. Multiple elements can share. CSS: .name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2130552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30552"/>
            <a:ext cx="420624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" y="2331720"/>
            <a:ext cx="347472" cy="347472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3F5E"/>
                </a:solidFill>
              </a:rPr>
              <a:t>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" y="23134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href="url"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768" y="2660904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&lt;a&gt; tags. Defines the link destination URL.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36008" y="2130552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36008" y="2130552"/>
            <a:ext cx="420624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5" name="Shape 23"/>
          <p:cNvSpPr/>
          <p:nvPr/>
        </p:nvSpPr>
        <p:spPr>
          <a:xfrm>
            <a:off x="4773168" y="2331720"/>
            <a:ext cx="347472" cy="347472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3F5E"/>
                </a:solidFill>
              </a:rPr>
              <a:t>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02936" y="23134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src="path"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73168" y="2660904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&lt;img&gt; &lt;script&gt;. Points to an external file.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608" y="3575304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575304"/>
            <a:ext cx="420624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1" name="Shape 29"/>
          <p:cNvSpPr/>
          <p:nvPr/>
        </p:nvSpPr>
        <p:spPr>
          <a:xfrm>
            <a:off x="429768" y="3776472"/>
            <a:ext cx="347472" cy="347472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3F5E"/>
                </a:solidFill>
              </a:rPr>
              <a:t>♿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" y="3758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alt="text"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29768" y="4105656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description for screen readers &amp; SEO. Always add it!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36008" y="3575304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36008" y="3575304"/>
            <a:ext cx="420624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7" name="Shape 35"/>
          <p:cNvSpPr/>
          <p:nvPr/>
        </p:nvSpPr>
        <p:spPr>
          <a:xfrm>
            <a:off x="4773168" y="3776472"/>
            <a:ext cx="347472" cy="347472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73168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3F5E"/>
                </a:solidFill>
              </a:rPr>
              <a:t>🎨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02936" y="3758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style="css"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73168" y="4105656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CSS. Works but avoid in big projects — use stylesheets.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5486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0"/>
            <a:ext cx="18288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&amp; Text Tags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your content with meaning.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— h1 to h6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5074920" cy="42519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507492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749808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749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74980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960120"/>
            <a:ext cx="489204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&lt;!-- 6 heading levels in HTML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&lt;h1&gt;Main Page Title&lt;/h1&gt;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&lt;h2&gt;Section Title&lt;/h2&gt;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&lt;h3&gt;Sub-section&lt;/h3&gt;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&lt;h4&gt;Sub-sub-section&lt;/h4&gt;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&lt;h5&gt;Rarely used&lt;/h5&gt;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&lt;h6&gt;Smallest heading&lt;/h6&gt;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Real-world blog structure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&lt;h1&gt;My Developer Blog&lt;/h1&gt;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&lt;h2&gt;JavaScript Tips&lt;/h2&gt;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&lt;h3&gt;Arrow Functions&lt;/h3&gt;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&lt;h3&gt;Destructuring&lt;/h3&gt;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&lt;h2&gt;HTML Basics&lt;/h2&gt;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&lt;h3&gt;Boilerplate&lt;/h3&gt;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685800"/>
            <a:ext cx="3401568" cy="42519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14416" y="850392"/>
            <a:ext cx="36576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8503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&lt;h1&gt; per page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main headline of a newspaper. Google reads it first.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1490472"/>
            <a:ext cx="36576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4904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hierarchy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skip levels — h1 → h2 → h3. Don't jump h1 to h4.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2130552"/>
            <a:ext cx="36576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130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= SEO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use headings to understand your page topic.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4416" y="2770632"/>
            <a:ext cx="36576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706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pick headings for size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CSS to change size. Use headings for MEANING.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3410712"/>
            <a:ext cx="36576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4107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Think of it as a book: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= Book title, h2 = Chapter, h3 = Section title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Formatting Tags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5074920" cy="42519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507492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749808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749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74980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960120"/>
            <a:ext cx="489204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Paragraph (most common text tag)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&lt;p&gt;This is a paragraph of text.&lt;/p&gt;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Inline text formatting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am &lt;strong&gt;bold &amp; important&lt;/strong&gt;.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am &lt;em&gt;italicised for emphasis&lt;/em&gt;.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am &lt;mark&gt;highlighted&lt;/mark&gt;.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am &lt;del&gt;strikethrough&lt;/del&gt;.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H&lt;sub&gt;2&lt;/sub&gt;O and x&lt;sup&gt;2&lt;/sup&gt;.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Line break &amp; horizontal rule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&lt;p&gt;Line one.&lt;br /&gt;Line two.&lt;/p&gt;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&lt;hr /&gt;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Inline code display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&lt;p&gt;Use &lt;code&gt;console.log()&lt;/code&gt;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debug your code.&lt;/p&gt;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Block quote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&lt;blockquote&gt;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"Any fool can write code that 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computer can understand." — Fowler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&lt;/blockquote&gt;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685800"/>
            <a:ext cx="3401568" cy="42519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14416" y="850392"/>
            <a:ext cx="36576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8503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 — Paragraph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element. Always starts on a new line. Main way to write text.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1490472"/>
            <a:ext cx="36576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4904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&lt;strong&gt; vs &lt;b&gt;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&lt;strong&gt; = semantically important. &lt;b&gt; = just bold visually. Prefer &lt;strong&gt;.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2130552"/>
            <a:ext cx="36576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130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&lt;em&gt; vs &lt;i&gt;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&lt;em&gt; = stressed emphasis. &lt;i&gt; = visually italic. Prefer &lt;em&gt;.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4416" y="2770632"/>
            <a:ext cx="36576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706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&lt;br /&gt; — Line break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moves to next line. No spacing. Use sparingly — use &lt;p&gt; for new paragraphs.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3410712"/>
            <a:ext cx="36576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4107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matter!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announce &lt;strong&gt; differently. Good accessibility = good UX.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5486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Images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pages navigable and visual.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— The &lt;a&gt; Anchor Tag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5074920" cy="42519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507492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749808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749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74980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960120"/>
            <a:ext cx="489204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External link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href="https://google.com"&gt;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 to Google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New tab (+ security attr)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href="https://github.com"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target="_blank"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rel="noopener noreferrer"&gt;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 GitHub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Internal page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href="about.html"&gt;About Us&lt;/a&gt;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Jump to section (hash link)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href="#contact"&gt;Go to Contact&lt;/a&gt;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id="contact"&gt;...&lt;/section&gt;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Email &amp; download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href="mailto:hi@gmail.com"&gt;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Me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href="cv.pdf" download&gt;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Download CV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685800"/>
            <a:ext cx="3401568" cy="42519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14416" y="85039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8503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 — HyperText Reference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destination. Without it the link does nothing.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149047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4904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target="_blank"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in new tab. Always pair with rel="noopener noreferrer" for security.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213055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130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vs Relative URL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https://google.com = absolute (works anywhere). /about.html = relative (relative to your site).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4416" y="277063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706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links #id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Scrolls to element with that id on the same page. Used in single-page sites.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341071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4107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 React: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use &lt;Link&gt; from react-router — same concept, same attributes.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— The &lt;img&gt; Tag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5074920" cy="42519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507492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749808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749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74980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960120"/>
            <a:ext cx="489204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Basic image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src="cat.jpg"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alt="A cute cat" /&gt;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Set dimensions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src="banner.jpg"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alt="Site banner"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width="800"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height="400" /&gt;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Image from URL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src="https://picsum.photos/300"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alt="Random photo" /&gt;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Image as a link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href="https://google.com"&gt;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src="logo.png"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alt="Google Logo" /&gt;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Lazy loading for performance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src="hero.jpg"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alt="Hero image"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loading="lazy" /&gt;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685800"/>
            <a:ext cx="3401568" cy="42519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14416" y="85039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8503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&lt;img&gt; is self-closing!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&lt;/img&gt; needed. Always end with /&gt;.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149047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4904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is REQUIRED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if image fails to load. Read by screen readers. Indexed by Google for SEO.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213055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130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path types: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"cat.jpg" same folder  •  "imgs/cat.jpg" subfolder  •  "../cat.jpg" parent folder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4416" y="277063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706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width + height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layout shift while page loads. Big performance improvement.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341071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4107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loading="lazy"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only loads when user scrolls near it. Huge performance boost on image-heavy pages.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5486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Organising information cleanly.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C55E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— ul, ol, dl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5074920" cy="42519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507492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749808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749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74980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960120"/>
            <a:ext cx="489204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Unordered list (bullets)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&lt;li&gt;HTML&lt;/li&gt;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&lt;li&gt;CSS&lt;/li&gt;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&lt;li&gt;JavaScript&lt;/li&gt;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Ordered list (numbered)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&lt;li&gt;Open VS Code&lt;/li&gt;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&lt;li&gt;Create index.html&lt;/li&gt;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&lt;li&gt;Write HTML&lt;/li&gt;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&lt;li&gt;Open in browser&lt;/li&gt;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&lt;/ol&gt;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Nested list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&lt;li&gt;Frontend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&lt;li&gt;HTML → CSS → JS&lt;/li&gt;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&lt;/li&gt;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&lt;li&gt;Backend → Node.js&lt;/li&gt;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Description list (glossary)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&lt;dl&gt;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&lt;dt&gt;HTML&lt;/dt&gt;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&lt;dd&gt;Structure of the web&lt;/dd&gt;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&lt;/dl&gt;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685800"/>
            <a:ext cx="3401568" cy="42519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14416" y="850392"/>
            <a:ext cx="36576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8503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 — Unordered List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points. Use when ORDER doesn't matter. Shopping list, features, nav links.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1490472"/>
            <a:ext cx="36576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4904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&lt;ol&gt; — Ordered List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1,2,3…. Use when ORDER matters. Steps, rankings, recipes.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2130552"/>
            <a:ext cx="36576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130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&lt;li&gt; — List Item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inside both ul and ol. Can contain any HTML inside it!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4416" y="2770632"/>
            <a:ext cx="36576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706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&lt;dl&gt; — Description List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&lt;dt&gt; = term,  &lt;dd&gt; = definition. Good for glossaries, FAQs, key-value data.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3410712"/>
            <a:ext cx="36576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4107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Real-world use: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menus are ALWAYS built as &lt;ul&gt;&lt;li&gt;&lt;a&gt; — styled with CSS to look like a navbar.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5486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data in rows and columns.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— Displaying Tabular Data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5074920" cy="42519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507492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749808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749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74980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960120"/>
            <a:ext cx="489204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&lt;thead&gt;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&lt;th&gt;Name&lt;/th&gt;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&lt;th&gt;Role&lt;/th&gt;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&lt;th&gt;Salary&lt;/th&gt;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&lt;/thead&gt;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&lt;tbody&gt;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&lt;td&gt;Rahul&lt;/td&gt;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&lt;td&gt;Frontend Dev&lt;/td&gt;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&lt;td&gt;12 LPA&lt;/td&gt;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&lt;td&gt;Priya&lt;/td&gt;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&lt;td&gt;Backend Dev&lt;/td&gt;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&lt;td&gt;15 LPA&lt;/td&gt;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&lt;/tbody&gt;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&lt;tfoot&gt;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 colspan="2"&gt;Average&lt;/td&gt;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&lt;td&gt;13.5 LPA&lt;/td&gt;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&lt;/tfoot&gt;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685800"/>
            <a:ext cx="3401568" cy="42519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14416" y="85039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8503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structure: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&lt;table&gt; wraps everything  •  &lt;thead&gt; = header row  •  &lt;tbody&gt; = data  •  &lt;tfoot&gt; = summary/footer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149047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4904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&lt;tr&gt; — Table Row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horizontal row of data.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213055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130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&lt;th&gt; — Header Cell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+ centered by default. Use in &lt;thead&gt;.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4416" y="277063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706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&lt;td&gt; — Data Cell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data cell. Use in &lt;tbody&gt; and &lt;tfoot&gt;.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341071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4107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colspan &amp; rowspan: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colspan="2" → cell spans 2 columns.  rowspan="3" → spans 3 rows.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14416" y="405079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40507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Tables are for DATA only!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tables for page layout. Use CSS Flexbox or Grid for that.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64592"/>
            <a:ext cx="8595360" cy="658368"/>
          </a:xfrm>
          <a:prstGeom prst="rect">
            <a:avLst/>
          </a:prstGeom>
          <a:solidFill>
            <a:srgbClr val="1C140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Quick Check!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heading tag should be used for the MAIN title of a webpage?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658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91640"/>
            <a:ext cx="475488" cy="658368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9164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76479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&lt;h2&gt; — h1 is reserved for sub-sections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658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468880"/>
            <a:ext cx="475488" cy="658368"/>
          </a:xfrm>
          <a:prstGeom prst="rect">
            <a:avLst/>
          </a:prstGeom>
          <a:solidFill>
            <a:srgbClr val="22C55E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46888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254203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&lt;title&gt; — it's literally called 'title'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8595360" cy="658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246120"/>
            <a:ext cx="475488" cy="658368"/>
          </a:xfrm>
          <a:prstGeom prst="rect">
            <a:avLst/>
          </a:prstGeom>
          <a:solidFill>
            <a:srgbClr val="F43F5E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24612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" y="331927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 — one per page, most important heading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023360"/>
            <a:ext cx="8595360" cy="658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023360"/>
            <a:ext cx="475488" cy="658368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02336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" y="409651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 — because it sits at the top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before answering! 💬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5486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0"/>
            <a:ext cx="182880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Inputs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data — the heart of every web app.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43F5E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— Collecting User Input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5074920" cy="42519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507492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749808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749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74980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960120"/>
            <a:ext cx="489204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action="/register"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method="POST"&gt;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for="name"&gt;Full Name:&lt;/label&gt;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id="name"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name="name"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placeholder="e.g. Rahul"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required /&gt;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for="email"&gt;Email:&lt;/label&gt;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type="email"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id="email"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name="email"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required /&gt;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type="password"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name="password"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placeholder="Min 8 chars" /&gt;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type="number"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name="age"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min="18" max="60" /&gt;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Register Now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685800"/>
            <a:ext cx="3401568" cy="42519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14416" y="850392"/>
            <a:ext cx="36576" cy="274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8503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&lt;form&gt; attributes: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action= where to send data  •  method= GET or POST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GET: data in URL (search)  •  POST: data hidden (login)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1490472"/>
            <a:ext cx="36576" cy="274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4904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&lt;label for=id&gt;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the label focuses the input. Crucial for accessibility! for= must match input's id=.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2130552"/>
            <a:ext cx="36576" cy="274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130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types: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 email  password  number  tel  url  date  checkbox  radio  file  hidden  range  color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4416" y="2770632"/>
            <a:ext cx="36576" cy="274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706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name= attribute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sent to the server. Without name=, the data won't be included in the request!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3410712"/>
            <a:ext cx="36576" cy="274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4107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/ disabled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= HTML validation before submit.  disabled = user can't interact with field.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43F5E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Form Elements — Select, Textarea, Checkbox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5074920" cy="42519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507492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749808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749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74980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960120"/>
            <a:ext cx="489204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Multi-line text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&lt;textarea name="bio"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rows="4"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placeholder="About you..."&gt;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&lt;/textarea&gt;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Dropdown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 name="city"&gt;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value=""&gt;-- Choose --&lt;/option&gt;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value="indore"&gt;Indore&lt;/option&gt;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value="mumbai"&gt;Mumbai&lt;/option&gt;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&lt;/select&gt;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Checkbox (multiple ok)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type="checkbox"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id="terms" name="terms" /&gt;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for="terms"&gt;I agree&lt;/label&gt;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Radio (one choice only)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type="radio"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name="gender" value="M" /&gt;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&lt;label&gt;Male&lt;/label&gt;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type="radio"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name="gender" value="F" /&gt;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&lt;label&gt;Female&lt;/label&gt;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File upload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type="file" accept="image/*" /&gt;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685800"/>
            <a:ext cx="3401568" cy="42519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14416" y="850392"/>
            <a:ext cx="36576" cy="274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8503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&lt;textarea&gt;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text. rows/cols sets initial size. Resize with CSS. Value goes between the tags.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1490472"/>
            <a:ext cx="36576" cy="274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4904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&lt;select&gt; + &lt;option&gt;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menu. value= is what gets sent. Text between tags = what user sees.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2130552"/>
            <a:ext cx="36576" cy="274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130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can be checked ✅. Each needs own name=. Value sent only if checked.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4416" y="2770632"/>
            <a:ext cx="36576" cy="274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706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buttons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name= groups them together. Only ONE can be selected at a time.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3410712"/>
            <a:ext cx="36576" cy="274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4107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&lt;button&gt; types: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type="submit" → sends form  •  type="reset" → clears  •  type="button" → does nothing (use with JS)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64592"/>
            <a:ext cx="8595360" cy="658368"/>
          </a:xfrm>
          <a:prstGeom prst="rect">
            <a:avLst/>
          </a:prstGeom>
          <a:solidFill>
            <a:srgbClr val="1C140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Quick Check!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form, what does the name= attribute on an input do?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658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91640"/>
            <a:ext cx="475488" cy="658368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9164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76479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label to the user above the input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658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468880"/>
            <a:ext cx="475488" cy="658368"/>
          </a:xfrm>
          <a:prstGeom prst="rect">
            <a:avLst/>
          </a:prstGeom>
          <a:solidFill>
            <a:srgbClr val="22C55E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46888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254203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input a unique CSS id for styling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8595360" cy="658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246120"/>
            <a:ext cx="475488" cy="658368"/>
          </a:xfrm>
          <a:prstGeom prst="rect">
            <a:avLst/>
          </a:prstGeom>
          <a:solidFill>
            <a:srgbClr val="F43F5E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24612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" y="331927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data key sent to the server when form submits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023360"/>
            <a:ext cx="8595360" cy="658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023360"/>
            <a:ext cx="475488" cy="658368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02336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" y="409651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 default placeholder text inside the input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how form data travels to a Node.js backend… 🤔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5486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0"/>
            <a:ext cx="18288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HTML that means something.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— Page Structure Visual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5029200" cy="42519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685800"/>
            <a:ext cx="5029200" cy="475488"/>
          </a:xfrm>
          <a:prstGeom prst="rect">
            <a:avLst/>
          </a:prstGeom>
          <a:solidFill>
            <a:srgbClr val="F43F5E">
              <a:alpha val="28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6858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2608" y="1197864"/>
            <a:ext cx="5029200" cy="347472"/>
          </a:xfrm>
          <a:prstGeom prst="rect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1978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1581912"/>
            <a:ext cx="3246120" cy="2468880"/>
          </a:xfrm>
          <a:prstGeom prst="rect">
            <a:avLst/>
          </a:prstGeom>
          <a:solidFill>
            <a:srgbClr val="14B8A6">
              <a:alpha val="28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581912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655064"/>
            <a:ext cx="1417320" cy="2286000"/>
          </a:xfrm>
          <a:prstGeom prst="rect">
            <a:avLst/>
          </a:prstGeom>
          <a:solidFill>
            <a:srgbClr val="0284C7">
              <a:alpha val="28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55064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92808" y="1655064"/>
            <a:ext cx="1536192" cy="2286000"/>
          </a:xfrm>
          <a:prstGeom prst="rect">
            <a:avLst/>
          </a:prstGeom>
          <a:solidFill>
            <a:srgbClr val="0369A1">
              <a:alpha val="28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92808" y="1655064"/>
            <a:ext cx="15361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11880" y="1581912"/>
            <a:ext cx="1636776" cy="2468880"/>
          </a:xfrm>
          <a:prstGeom prst="rect">
            <a:avLst/>
          </a:prstGeom>
          <a:solidFill>
            <a:srgbClr val="22C55E">
              <a:alpha val="2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581912"/>
            <a:ext cx="16367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" y="4087368"/>
            <a:ext cx="5029200" cy="777240"/>
          </a:xfrm>
          <a:prstGeom prst="rect">
            <a:avLst/>
          </a:prstGeom>
          <a:solidFill>
            <a:srgbClr val="F43F5E">
              <a:alpha val="28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40873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0" y="685800"/>
            <a:ext cx="36576" cy="47548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1" name="Text 19"/>
          <p:cNvSpPr/>
          <p:nvPr/>
        </p:nvSpPr>
        <p:spPr>
          <a:xfrm>
            <a:off x="5596128" y="685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96128" y="9418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site title, hero. Top of page.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1271016"/>
            <a:ext cx="36576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596128" y="12710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96128" y="15270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menu links.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1856232"/>
            <a:ext cx="36576" cy="4754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5596128" y="18562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96128" y="21122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content. ONE per page!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2441448"/>
            <a:ext cx="36576" cy="47548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0" name="Text 28"/>
          <p:cNvSpPr/>
          <p:nvPr/>
        </p:nvSpPr>
        <p:spPr>
          <a:xfrm>
            <a:off x="5596128" y="24414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96128" y="26974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Self-contained: blog post, news.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3026664"/>
            <a:ext cx="36576" cy="47548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3" name="Text 31"/>
          <p:cNvSpPr/>
          <p:nvPr/>
        </p:nvSpPr>
        <p:spPr>
          <a:xfrm>
            <a:off x="5596128" y="30266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596128" y="32826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 grouping of content.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0" y="3611880"/>
            <a:ext cx="36576" cy="47548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5596128" y="3611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596128" y="38679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Sidebar, related links, ads.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4197096"/>
            <a:ext cx="36576" cy="47548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9" name="Text 37"/>
          <p:cNvSpPr/>
          <p:nvPr/>
        </p:nvSpPr>
        <p:spPr>
          <a:xfrm>
            <a:off x="5596128" y="41970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96128" y="44531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Copyright, links, contact.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Semantic HTML Matters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42062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" y="886968"/>
            <a:ext cx="347472" cy="347472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5CF6"/>
                </a:solidFill>
              </a:rPr>
              <a:t>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868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1216152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understand &lt;nav&gt;, &lt;main&gt;, &lt;article&gt;. A &lt;div&gt; has no meaning to them.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36008" y="685800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685800"/>
            <a:ext cx="42062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773168" y="886968"/>
            <a:ext cx="347472" cy="347472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5CF6"/>
                </a:solidFill>
              </a:rPr>
              <a:t>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02936" y="868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73168" y="1216152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understands structure from semantic tags. &lt;article&gt; content ranks better.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2130552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30552"/>
            <a:ext cx="42062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" y="2331720"/>
            <a:ext cx="347472" cy="347472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5CF6"/>
                </a:solidFill>
              </a:rPr>
              <a:t>🧹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" y="23134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Code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768" y="2660904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 is self-explanatory. 10 nested &lt;divs&gt; is a nightmare to maintain.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36008" y="2130552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36008" y="2130552"/>
            <a:ext cx="42062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hape 23"/>
          <p:cNvSpPr/>
          <p:nvPr/>
        </p:nvSpPr>
        <p:spPr>
          <a:xfrm>
            <a:off x="4773168" y="2331720"/>
            <a:ext cx="347472" cy="347472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5CF6"/>
                </a:solidFill>
              </a:rPr>
              <a:t>📱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02936" y="23134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Features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73168" y="2660904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modes, skip links, and accessibility tools all rely on semantic structure.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608" y="3575304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575304"/>
            <a:ext cx="42062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Shape 29"/>
          <p:cNvSpPr/>
          <p:nvPr/>
        </p:nvSpPr>
        <p:spPr>
          <a:xfrm>
            <a:off x="429768" y="3776472"/>
            <a:ext cx="347472" cy="347472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5CF6"/>
                </a:solidFill>
              </a:rPr>
              <a:t>⚠️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" y="3758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&lt;div&gt; trap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29768" y="4105656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&lt;div id="nav"&gt;&lt;div id="menu"&gt;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&lt;nav&gt;&lt;ul&gt;&lt;li&gt;&lt;a href&gt; — use the right tag!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36008" y="3575304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36008" y="3575304"/>
            <a:ext cx="42062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Shape 35"/>
          <p:cNvSpPr/>
          <p:nvPr/>
        </p:nvSpPr>
        <p:spPr>
          <a:xfrm>
            <a:off x="4773168" y="3776472"/>
            <a:ext cx="347472" cy="347472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73168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5CF6"/>
                </a:solidFill>
              </a:rPr>
              <a:t>💡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02936" y="3758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73168" y="4105656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'Is there a semantic tag for this?' Use &lt;div&gt; only when NOTHING else fits.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5486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Elements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audio, and embedded content.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C55E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Audio &amp; iFrames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5074920" cy="42519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507492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749808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749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74980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960120"/>
            <a:ext cx="489204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HTML5 Video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 controls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autoplay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muted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loop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width="640"&gt;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src="intro.mp4"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type="video/mp4" /&gt;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src="intro.ogg"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type="video/ogg" /&gt;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Browser doesn't support video.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&lt;/video&gt;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HTML5 Audio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 controls&gt;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src="song.mp3"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type="audio/mpeg" /&gt;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&lt;/audio&gt;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YouTube embed (iFrame)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src="https://youtube.com/embed/XYZ"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width="560" height="315"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allowfullscreen&gt;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&lt;/iframe&gt;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685800"/>
            <a:ext cx="3401568" cy="42519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14416" y="850392"/>
            <a:ext cx="36576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8503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&lt;video&gt; attributes: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— show play bar  •  autoplay — start on load  •  muted — required for autoplay!  •  loop — repeat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1490472"/>
            <a:ext cx="36576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4904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&lt;source&gt; tags: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picks first format it supports. Always include mp4 — has best browser support.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2130552"/>
            <a:ext cx="36576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130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text: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between &lt;video&gt; tags shows only if browser can't play video.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4416" y="2770632"/>
            <a:ext cx="36576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706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&lt;audio&gt;: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as video. controls attribute is important — gives user a play/pause bar.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3410712"/>
            <a:ext cx="36576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4107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&lt;iframe&gt; — embed anything: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YouTube, Google Maps, payment widgets. Use allowfullscreen for video. sandbox= adds security.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5486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0"/>
            <a:ext cx="18288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&lt;head&gt; Section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settings that power your page.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B8A6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Tags &amp; Head Elements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5074920" cy="42519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507492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749808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749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74980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960120"/>
            <a:ext cx="489204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 /&gt;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content="width=device-width,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initial-scale=1.0" /&gt;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Google search description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name="description"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content="Learn HTML in this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MERN stack course." /&gt;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Social media share preview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property="og:title"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content="My Awesome Site" /&gt;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property="og:image"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content="preview.jpg" /&gt;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property="og:description"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content="Best MERN course" /&gt;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Browser tab icon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rel="icon"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href="favicon.ico" /&gt;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&lt;title&gt;My Page — 60 chars max&lt;/title&gt;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685800"/>
            <a:ext cx="3401568" cy="42519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14416" y="850392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8503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charset UTF-8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₹ symbols, Hindi text, emojis may display as garbage.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1490472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4904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meta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mobile users see a tiny zoomed-out desktop page. Always include!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2130552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130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meta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under your link in Google search results. Keep it 150-160 characters.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4416" y="2770632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706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Graph (og:)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your link looks when shared on WhatsApp, LinkedIn, Twitter, Facebook.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3410712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4107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favicon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tiny icon in the browser tab. People notice when it's missing!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14416" y="4050792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40507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&lt;title&gt;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tab text + used by Google. Keep under 60 characters.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5486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Extras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div, span, buttons, comments &amp; entities.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389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div, span, Comments &amp; HTML Entities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5074920" cy="42519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507492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749808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749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74980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960120"/>
            <a:ext cx="489204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BLOCK container for layout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class="card"&gt;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&lt;h2&gt;Card Title&lt;/h2&gt;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&lt;p&gt;Card content here.&lt;/p&gt;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INLINE container for partial text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&lt;p&gt;My name is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&lt;span class="highlight"&gt;Rahul&lt;/span&gt;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I love coding.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Comments — hidden from users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Single line comment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Multi-line comment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Great for notes in your code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HTML Special Characters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&lt;p&gt;&amp;lt;div&amp;gt; looks like this&lt;/p&gt;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&lt;p&gt;Copyright &amp;copy; 2025&lt;/p&gt;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&lt;p&gt;Price: &amp;#8377;999&lt;/p&gt;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&lt;p&gt;Non-breaking&amp;nbsp;space here&lt;/p&gt;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685800"/>
            <a:ext cx="3401568" cy="42519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14416" y="85039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8503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 — Block Container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width, starts new line. Used for grouping content for layout. Most-used tag in React apps.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149047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4904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&lt;span&gt; — Inline Container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 wide as content. Stays within text flow. Use to style a part of a sentence.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213055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130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vs Inline: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Block: div p h1-h6 ul table — always new line.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Inline: span a strong em img — stays in text.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4416" y="277063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706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Entities: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&amp;lt; → &lt;   &amp;gt; → &gt;   &amp;amp; → &amp;   &amp;copy; → ©   &amp;nbsp; → space   &amp;#8377; → 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341071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4107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Ctrl+/ in VS Code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 &lt;!-- --&gt; comment on any selected line. Huge time-saver!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Script &amp; Style Tags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5074920" cy="42519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507492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749808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749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74980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960120"/>
            <a:ext cx="489204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Button types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type="button"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onclick="alert('Hi!')"&gt;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Click Me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type="submit"&gt;Submit&lt;/button&gt;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type="reset"&gt;Clear&lt;/button&gt;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disabled&gt;Not Clickable&lt;/button&gt;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External JS (end of body)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src="app.js"&gt;&lt;/script&gt;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Or with defer in &lt;head&gt;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src="app.js" defer&gt;&lt;/script&gt;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External CSS (in &lt;head&gt;)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href="style.css" /&gt;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Inline CSS (testing only) --&gt;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 { background: #09090B;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h1   { color: #14B8A6;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&lt;/style&gt;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685800"/>
            <a:ext cx="3401568" cy="425196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14416" y="85039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85039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type=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"submit" → sends form  •  "reset" → clears form  •  "button" → nothing (for JS). Default is "submit"!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149047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4904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attribute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Greyed out, can't click. Used for validation — disable submit until all fields are filled.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213055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13055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placement: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&lt;body&gt; is safest — HTML loads first then JS runs. Or use defer in &lt;head&gt;.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4416" y="277063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706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vs async: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→ runs after HTML is parsed (most scripts).  async → runs as soon as downloaded (analytics).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3410712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41071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&lt;link&gt; vs &lt;style&gt;: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 href=file&gt; → external CSS (use for real projects).  &lt;style&gt; → CSS inside HTML (testing only).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64592"/>
            <a:ext cx="8595360" cy="658368"/>
          </a:xfrm>
          <a:prstGeom prst="rect">
            <a:avLst/>
          </a:prstGeom>
          <a:solidFill>
            <a:srgbClr val="1C140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Quick Check!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key difference between &lt;div&gt; and &lt;span&gt;?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658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91640"/>
            <a:ext cx="475488" cy="658368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9164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76479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 is for CSS only; &lt;span&gt; is for JavaScript interactions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8595360" cy="658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468880"/>
            <a:ext cx="475488" cy="658368"/>
          </a:xfrm>
          <a:prstGeom prst="rect">
            <a:avLst/>
          </a:prstGeom>
          <a:solidFill>
            <a:srgbClr val="22C55E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46888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254203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&lt;div&gt; is a block element (new line, full width); &lt;span&gt; is inline (stays in text)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8595360" cy="658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246120"/>
            <a:ext cx="475488" cy="658368"/>
          </a:xfrm>
          <a:prstGeom prst="rect">
            <a:avLst/>
          </a:prstGeom>
          <a:solidFill>
            <a:srgbClr val="F43F5E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24612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" y="331927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interchangeable — just different naming conventions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023360"/>
            <a:ext cx="8595360" cy="658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023360"/>
            <a:ext cx="475488" cy="658368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02336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" y="409651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&lt;span&gt; is the newer replacement for &lt;div&gt; in HTML5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Block vs Inline is one of the MOST important CSS concepts too! 🧱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C55E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Best Practices — Write Like a Pro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42062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" y="886968"/>
            <a:ext cx="347472" cy="347472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868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 alt to images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1216152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alt="" for decorative images. Descriptive text for meaningful ones.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36008" y="685800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685800"/>
            <a:ext cx="42062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Shape 11"/>
          <p:cNvSpPr/>
          <p:nvPr/>
        </p:nvSpPr>
        <p:spPr>
          <a:xfrm>
            <a:off x="4773168" y="886968"/>
            <a:ext cx="347472" cy="347472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02936" y="868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every form input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73168" y="1216152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&lt;label for="x"&gt; paired with id="x" on the input. No label = bad accessibility.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2130552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30552"/>
            <a:ext cx="42062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" y="2331720"/>
            <a:ext cx="347472" cy="347472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" y="23134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semantic tags first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768" y="2660904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'Is there a tag for this?' Use &lt;nav&gt;, &lt;article&gt;, &lt;section&gt; before reaching for &lt;div&gt;.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36008" y="2130552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36008" y="2130552"/>
            <a:ext cx="42062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Shape 23"/>
          <p:cNvSpPr/>
          <p:nvPr/>
        </p:nvSpPr>
        <p:spPr>
          <a:xfrm>
            <a:off x="4773168" y="2331720"/>
            <a:ext cx="347472" cy="347472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02936" y="23134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your HTML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73168" y="2660904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validator.w3.org — the official W3C HTML validator. Catches hidden bugs.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608" y="3575304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575304"/>
            <a:ext cx="42062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Shape 29"/>
          <p:cNvSpPr/>
          <p:nvPr/>
        </p:nvSpPr>
        <p:spPr>
          <a:xfrm>
            <a:off x="429768" y="3776472"/>
            <a:ext cx="347472" cy="347472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✅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" y="3758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 nested elements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29768" y="4105656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indented 2 spaces inside parent. VS Code auto-formats on save with Prettier.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36008" y="3575304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36008" y="3575304"/>
            <a:ext cx="42062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7" name="Shape 35"/>
          <p:cNvSpPr/>
          <p:nvPr/>
        </p:nvSpPr>
        <p:spPr>
          <a:xfrm>
            <a:off x="4773168" y="3776472"/>
            <a:ext cx="347472" cy="347472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73168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✅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02936" y="3758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all your tags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73168" y="4105656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&lt;/div&gt; or &lt;/li&gt; causes bizarre layout bugs. Use a linter!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B8A6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Power Tips for HTML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420624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" y="886968"/>
            <a:ext cx="347472" cy="347472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868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+ Tab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1216152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full HTML boilerplate instantly. Use every time you create a new file.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36008" y="685800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685800"/>
            <a:ext cx="420624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4773168" y="886968"/>
            <a:ext cx="347472" cy="347472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02936" y="868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Emmet Abbreviations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73168" y="1216152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ul&gt;li*3 → ul with 3 lis.  div.card&gt;h2+p → div.card containing h2 and 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2130552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30552"/>
            <a:ext cx="420624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" y="2331720"/>
            <a:ext cx="347472" cy="347472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" y="23134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 Extension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768" y="2660904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Auto-refreshes browser on save. No more manual F5! Install from Extensions panel.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36008" y="2130552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36008" y="2130552"/>
            <a:ext cx="420624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Shape 23"/>
          <p:cNvSpPr/>
          <p:nvPr/>
        </p:nvSpPr>
        <p:spPr>
          <a:xfrm>
            <a:off x="4773168" y="2331720"/>
            <a:ext cx="347472" cy="347472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02936" y="23134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 Extension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73168" y="2660904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Auto-formats HTML on every save. Keeps indentation and style perfectly consistent.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608" y="3575304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575304"/>
            <a:ext cx="420624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Shape 29"/>
          <p:cNvSpPr/>
          <p:nvPr/>
        </p:nvSpPr>
        <p:spPr>
          <a:xfrm>
            <a:off x="429768" y="3776472"/>
            <a:ext cx="347472" cy="347472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#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" y="3758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Ctrl+/ to Comment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29768" y="4105656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&lt;!-- --&gt; comment on selected lines. Works in HTML, CSS, and JS.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36008" y="3575304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36008" y="3575304"/>
            <a:ext cx="420624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7" name="Shape 35"/>
          <p:cNvSpPr/>
          <p:nvPr/>
        </p:nvSpPr>
        <p:spPr>
          <a:xfrm>
            <a:off x="4773168" y="3776472"/>
            <a:ext cx="347472" cy="347472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73168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🎯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02936" y="3758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Ctrl+P — Quick Open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73168" y="4105656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file in your project instantly by typing its name. Faster than the file tree.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B8A6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Quick Reference — Tags You'll Use Daily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2121408" cy="20299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2121408" cy="2560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858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978408"/>
            <a:ext cx="1956816" cy="1664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685800"/>
            <a:ext cx="2121408" cy="20299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685800"/>
            <a:ext cx="2121408" cy="2560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6858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978408"/>
            <a:ext cx="1956816" cy="1664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&lt;h1&gt;–&lt;h6&gt;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&lt;strong&gt;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&lt;em&gt;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&lt;span&gt;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&lt;br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&lt;hr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&lt;blockquote&gt;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45152" y="685800"/>
            <a:ext cx="2121408" cy="20299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5152" y="685800"/>
            <a:ext cx="2121408" cy="2560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4645152" y="6858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Media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36592" y="978408"/>
            <a:ext cx="1956816" cy="1664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&lt;iframe&gt;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21424" y="685800"/>
            <a:ext cx="2121408" cy="20299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21424" y="685800"/>
            <a:ext cx="2121408" cy="2560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6821424" y="6858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12864" y="978408"/>
            <a:ext cx="1956816" cy="1664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&lt;dd&gt;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2608" y="2788920"/>
            <a:ext cx="2121408" cy="20299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2788920"/>
            <a:ext cx="2121408" cy="2560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7889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" y="3081528"/>
            <a:ext cx="1956816" cy="1664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&lt;thead&gt;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&lt;tbody&gt;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2788920"/>
            <a:ext cx="2121408" cy="20299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2788920"/>
            <a:ext cx="2121408" cy="2560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2468880" y="27889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60320" y="3081528"/>
            <a:ext cx="1956816" cy="1664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&lt;textarea&gt;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45152" y="2788920"/>
            <a:ext cx="2121408" cy="20299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2788920"/>
            <a:ext cx="2121408" cy="2560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4645152" y="27889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36592" y="3081528"/>
            <a:ext cx="1956816" cy="1664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21424" y="2788920"/>
            <a:ext cx="2121408" cy="20299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21424" y="2788920"/>
            <a:ext cx="2121408" cy="2560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6821424" y="278892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12864" y="3081528"/>
            <a:ext cx="1956816" cy="1664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&lt;span&gt;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comment --&gt;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43F5E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Practice Projects — Build These Tonight!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685800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85800"/>
            <a:ext cx="420624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" y="886968"/>
            <a:ext cx="347472" cy="347472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3F5E"/>
                </a:solidFill>
              </a:rPr>
              <a:t>1️⃣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868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Profile Page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1216152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name (h1), bio (p), skills list (ul), social links (a). Pure structure, no CSS.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36008" y="685800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685800"/>
            <a:ext cx="420624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3" name="Shape 11"/>
          <p:cNvSpPr/>
          <p:nvPr/>
        </p:nvSpPr>
        <p:spPr>
          <a:xfrm>
            <a:off x="4773168" y="886968"/>
            <a:ext cx="347472" cy="347472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3F5E"/>
                </a:solidFill>
              </a:rPr>
              <a:t>2️⃣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02936" y="868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Page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73168" y="1216152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+ nav, 3 articles with h2/p/img, and a footer. Focus on semantic HTML.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2130552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30552"/>
            <a:ext cx="420624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" y="2331720"/>
            <a:ext cx="347472" cy="347472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3F5E"/>
                </a:solidFill>
              </a:rPr>
              <a:t>3️⃣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" y="23134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Landing Page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768" y="2660904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section, features (div cards), pricing table (HTML table), contact form.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36008" y="2130552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36008" y="2130552"/>
            <a:ext cx="420624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5" name="Shape 23"/>
          <p:cNvSpPr/>
          <p:nvPr/>
        </p:nvSpPr>
        <p:spPr>
          <a:xfrm>
            <a:off x="4773168" y="2331720"/>
            <a:ext cx="347472" cy="347472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3F5E"/>
                </a:solidFill>
              </a:rPr>
              <a:t>4️⃣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02936" y="23134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Form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73168" y="2660904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form: text, email, password, gender (radio), city (select), T&amp;C (checkbox), submit.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608" y="3575304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575304"/>
            <a:ext cx="420624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1" name="Shape 29"/>
          <p:cNvSpPr/>
          <p:nvPr/>
        </p:nvSpPr>
        <p:spPr>
          <a:xfrm>
            <a:off x="429768" y="3776472"/>
            <a:ext cx="347472" cy="347472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3F5E"/>
                </a:solidFill>
              </a:rPr>
              <a:t>5️⃣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" y="3758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Portfolio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29768" y="4105656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everything: nav, hero, projects section, about me, contact form, footer.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36008" y="3575304"/>
            <a:ext cx="4206240" cy="135331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36008" y="3575304"/>
            <a:ext cx="420624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7" name="Shape 35"/>
          <p:cNvSpPr/>
          <p:nvPr/>
        </p:nvSpPr>
        <p:spPr>
          <a:xfrm>
            <a:off x="4773168" y="3776472"/>
            <a:ext cx="347472" cy="347472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73168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3F5E"/>
                </a:solidFill>
              </a:rPr>
              <a:t>🎯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02936" y="3758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Recreate a Page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73168" y="4105656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simple website (Wikipedia article, news page) and recreate its HTML 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B8A6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— Your MERN Journey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92608" y="777240"/>
            <a:ext cx="2788920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777240"/>
            <a:ext cx="2788920" cy="4572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50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24328" y="850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" y="19842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— you're here!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777240"/>
            <a:ext cx="2788920" cy="182880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5848" y="850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01568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01568" y="19842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Style, Flexbox, Grid, Animations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6208" y="777240"/>
            <a:ext cx="2788920" cy="182880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27648" y="850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73368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73368" y="19842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DOM, Events, Fetch, Async/Await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" y="2788920"/>
            <a:ext cx="2788920" cy="182880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28620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29768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9768" y="39959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Hooks, State, JSX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64408" y="2788920"/>
            <a:ext cx="2788920" cy="182880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55848" y="28620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401568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401568" y="39959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REST APIs, Middleware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36208" y="2788920"/>
            <a:ext cx="2788920" cy="182880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27648" y="28620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373368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373368" y="39959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Mongoose, Full MERN App!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4B8A6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457200"/>
            <a:ext cx="5029200" cy="50292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Building.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Breaking.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743200" y="3794760"/>
            <a:ext cx="36576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way to learn HTML is to open VS Code right now and build something.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 •  HTML Module Complete  ✅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— The Language of the Web</dc:title>
  <dc:subject>PptxGenJS Presentation</dc:subject>
  <dc:creator>PptxGenJS</dc:creator>
  <cp:lastModifiedBy>PptxGenJS</cp:lastModifiedBy>
  <cp:revision>1</cp:revision>
  <dcterms:created xsi:type="dcterms:W3CDTF">2026-05-11T18:35:36Z</dcterms:created>
  <dcterms:modified xsi:type="dcterms:W3CDTF">2026-05-11T18:35:36Z</dcterms:modified>
</cp:coreProperties>
</file>